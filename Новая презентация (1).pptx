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Maven Pr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35" Type="http://schemas.openxmlformats.org/officeDocument/2006/relationships/font" Target="fonts/MavenPro-bold.fntdata"/><Relationship Id="rId12" Type="http://schemas.openxmlformats.org/officeDocument/2006/relationships/slide" Target="slides/slide7.xml"/><Relationship Id="rId34" Type="http://schemas.openxmlformats.org/officeDocument/2006/relationships/font" Target="fonts/MavenPr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07b14ea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07b14ea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0d2ea2f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0d2ea2f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07b14ea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07b14ea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07b14ea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07b14ea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07b14ea3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07b14ea3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07b14ea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07b14ea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07b14ea3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07b14ea3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07b14ea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07b14ea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0d2ea2f4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0d2ea2f4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07b14ea3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07b14ea3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07b14ea3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07b14ea3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07b14ea3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07b14ea3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07b14ea3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07b14ea3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07b14ea3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07b14ea3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07b14ea3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07b14ea3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07b14ea3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07b14ea3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07b14ea3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07b14ea3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07b14ea3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07b14ea3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07b14ea3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07b14ea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07b14ea3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07b14ea3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07b14ea3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07b14ea3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07b14ea3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a07b14ea3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07b14ea3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07b14ea3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для анализа данных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Первая встреча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Краткая информация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475900" y="15218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Длина курса</a:t>
            </a:r>
            <a:r>
              <a:rPr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: 2 модуля</a:t>
            </a:r>
            <a:endParaRPr sz="1700"/>
          </a:p>
        </p:txBody>
      </p:sp>
      <p:sp>
        <p:nvSpPr>
          <p:cNvPr id="285" name="Google Shape;285;p14"/>
          <p:cNvSpPr txBox="1"/>
          <p:nvPr/>
        </p:nvSpPr>
        <p:spPr>
          <a:xfrm>
            <a:off x="1263050" y="2056575"/>
            <a:ext cx="536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Оценка</a:t>
            </a:r>
            <a:r>
              <a:rPr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: 0.4 * Домашка + 0.2 * Контрольная работа + 0.4 Экзамен</a:t>
            </a:r>
            <a:endParaRPr/>
          </a:p>
        </p:txBody>
      </p:sp>
      <p:sp>
        <p:nvSpPr>
          <p:cNvPr id="286" name="Google Shape;286;p14"/>
          <p:cNvSpPr txBox="1"/>
          <p:nvPr/>
        </p:nvSpPr>
        <p:spPr>
          <a:xfrm>
            <a:off x="529800" y="2600950"/>
            <a:ext cx="371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5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Автоматы? Не, не слышали про такое</a:t>
            </a:r>
            <a:endParaRPr b="1" sz="1600"/>
          </a:p>
        </p:txBody>
      </p:sp>
      <p:sp>
        <p:nvSpPr>
          <p:cNvPr id="287" name="Google Shape;287;p14"/>
          <p:cNvSpPr txBox="1"/>
          <p:nvPr/>
        </p:nvSpPr>
        <p:spPr>
          <a:xfrm>
            <a:off x="1877675" y="31231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О чем курс?</a:t>
            </a:r>
            <a:endParaRPr b="1" sz="1700"/>
          </a:p>
        </p:txBody>
      </p:sp>
      <p:sp>
        <p:nvSpPr>
          <p:cNvPr id="288" name="Google Shape;288;p14"/>
          <p:cNvSpPr txBox="1"/>
          <p:nvPr/>
        </p:nvSpPr>
        <p:spPr>
          <a:xfrm>
            <a:off x="2384450" y="3586775"/>
            <a:ext cx="5464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Основная часть курса</a:t>
            </a:r>
            <a:r>
              <a:rPr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- познакомить вас и научить программировать на языке программирования Python.</a:t>
            </a:r>
            <a:endParaRPr sz="13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Второстепенная задача</a:t>
            </a:r>
            <a:r>
              <a:rPr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- подготовить вас к сдаче независимого экзамена.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Преподаватель</a:t>
            </a:r>
            <a:endParaRPr/>
          </a:p>
        </p:txBody>
      </p:sp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3623725" y="1172100"/>
            <a:ext cx="5339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28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Образование:</a:t>
            </a:r>
            <a:endParaRPr sz="28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616585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23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Бакалавриат НИУ ВШЭ по направлению “Программная инженерия”</a:t>
            </a:r>
            <a:endParaRPr sz="23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grpSp>
        <p:nvGrpSpPr>
          <p:cNvPr id="295" name="Google Shape;295;p15"/>
          <p:cNvGrpSpPr/>
          <p:nvPr/>
        </p:nvGrpSpPr>
        <p:grpSpPr>
          <a:xfrm>
            <a:off x="74942" y="1347754"/>
            <a:ext cx="3230740" cy="3467928"/>
            <a:chOff x="11336518" y="2906683"/>
            <a:chExt cx="5501005" cy="5904866"/>
          </a:xfrm>
        </p:grpSpPr>
        <p:sp>
          <p:nvSpPr>
            <p:cNvPr id="296" name="Google Shape;296;p15"/>
            <p:cNvSpPr/>
            <p:nvPr/>
          </p:nvSpPr>
          <p:spPr>
            <a:xfrm>
              <a:off x="11336518" y="2906684"/>
              <a:ext cx="5501005" cy="5904865"/>
            </a:xfrm>
            <a:custGeom>
              <a:rect b="b" l="l" r="r" t="t"/>
              <a:pathLst>
                <a:path extrusionOk="0" h="5904865" w="5501005">
                  <a:moveTo>
                    <a:pt x="5437786" y="5904426"/>
                  </a:moveTo>
                  <a:lnTo>
                    <a:pt x="63039" y="5904426"/>
                  </a:lnTo>
                  <a:lnTo>
                    <a:pt x="38535" y="5899461"/>
                  </a:lnTo>
                  <a:lnTo>
                    <a:pt x="18493" y="5885932"/>
                  </a:lnTo>
                  <a:lnTo>
                    <a:pt x="4965" y="5865891"/>
                  </a:lnTo>
                  <a:lnTo>
                    <a:pt x="0" y="5841387"/>
                  </a:lnTo>
                  <a:lnTo>
                    <a:pt x="0" y="63039"/>
                  </a:lnTo>
                  <a:lnTo>
                    <a:pt x="18493" y="18493"/>
                  </a:lnTo>
                  <a:lnTo>
                    <a:pt x="63039" y="0"/>
                  </a:lnTo>
                  <a:lnTo>
                    <a:pt x="5437786" y="0"/>
                  </a:lnTo>
                  <a:lnTo>
                    <a:pt x="5462290" y="4965"/>
                  </a:lnTo>
                  <a:lnTo>
                    <a:pt x="5482331" y="18493"/>
                  </a:lnTo>
                  <a:lnTo>
                    <a:pt x="5490256" y="30233"/>
                  </a:lnTo>
                  <a:lnTo>
                    <a:pt x="63039" y="30233"/>
                  </a:lnTo>
                  <a:lnTo>
                    <a:pt x="50315" y="32826"/>
                  </a:lnTo>
                  <a:lnTo>
                    <a:pt x="39882" y="39882"/>
                  </a:lnTo>
                  <a:lnTo>
                    <a:pt x="32826" y="50314"/>
                  </a:lnTo>
                  <a:lnTo>
                    <a:pt x="30233" y="63039"/>
                  </a:lnTo>
                  <a:lnTo>
                    <a:pt x="30233" y="5841387"/>
                  </a:lnTo>
                  <a:lnTo>
                    <a:pt x="32826" y="5854111"/>
                  </a:lnTo>
                  <a:lnTo>
                    <a:pt x="39882" y="5864544"/>
                  </a:lnTo>
                  <a:lnTo>
                    <a:pt x="50315" y="5871599"/>
                  </a:lnTo>
                  <a:lnTo>
                    <a:pt x="63039" y="5874192"/>
                  </a:lnTo>
                  <a:lnTo>
                    <a:pt x="5490256" y="5874192"/>
                  </a:lnTo>
                  <a:lnTo>
                    <a:pt x="5482331" y="5885932"/>
                  </a:lnTo>
                  <a:lnTo>
                    <a:pt x="5462290" y="5899461"/>
                  </a:lnTo>
                  <a:lnTo>
                    <a:pt x="5437786" y="5904426"/>
                  </a:lnTo>
                  <a:close/>
                </a:path>
                <a:path extrusionOk="0" h="5904865" w="5501005">
                  <a:moveTo>
                    <a:pt x="5490256" y="5874192"/>
                  </a:moveTo>
                  <a:lnTo>
                    <a:pt x="5437786" y="5874192"/>
                  </a:lnTo>
                  <a:lnTo>
                    <a:pt x="5450510" y="5871599"/>
                  </a:lnTo>
                  <a:lnTo>
                    <a:pt x="5460943" y="5864544"/>
                  </a:lnTo>
                  <a:lnTo>
                    <a:pt x="5467998" y="5854111"/>
                  </a:lnTo>
                  <a:lnTo>
                    <a:pt x="5470592" y="5841387"/>
                  </a:lnTo>
                  <a:lnTo>
                    <a:pt x="5470592" y="63039"/>
                  </a:lnTo>
                  <a:lnTo>
                    <a:pt x="5467998" y="50314"/>
                  </a:lnTo>
                  <a:lnTo>
                    <a:pt x="5460943" y="39882"/>
                  </a:lnTo>
                  <a:lnTo>
                    <a:pt x="5450510" y="32826"/>
                  </a:lnTo>
                  <a:lnTo>
                    <a:pt x="5437786" y="30233"/>
                  </a:lnTo>
                  <a:lnTo>
                    <a:pt x="5490256" y="30233"/>
                  </a:lnTo>
                  <a:lnTo>
                    <a:pt x="5495860" y="38535"/>
                  </a:lnTo>
                  <a:lnTo>
                    <a:pt x="5500824" y="63039"/>
                  </a:lnTo>
                  <a:lnTo>
                    <a:pt x="5500824" y="5841387"/>
                  </a:lnTo>
                  <a:lnTo>
                    <a:pt x="5495860" y="5865891"/>
                  </a:lnTo>
                  <a:lnTo>
                    <a:pt x="5490256" y="5874192"/>
                  </a:lnTo>
                  <a:close/>
                </a:path>
              </a:pathLst>
            </a:custGeom>
            <a:solidFill>
              <a:srgbClr val="ECCB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"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11336518" y="2906683"/>
              <a:ext cx="5501005" cy="828675"/>
            </a:xfrm>
            <a:custGeom>
              <a:rect b="b" l="l" r="r" t="t"/>
              <a:pathLst>
                <a:path extrusionOk="0" h="828675" w="5501005">
                  <a:moveTo>
                    <a:pt x="5437786" y="828094"/>
                  </a:moveTo>
                  <a:lnTo>
                    <a:pt x="63039" y="828094"/>
                  </a:lnTo>
                  <a:lnTo>
                    <a:pt x="38535" y="823129"/>
                  </a:lnTo>
                  <a:lnTo>
                    <a:pt x="18493" y="809600"/>
                  </a:lnTo>
                  <a:lnTo>
                    <a:pt x="4965" y="789559"/>
                  </a:lnTo>
                  <a:lnTo>
                    <a:pt x="0" y="765055"/>
                  </a:lnTo>
                  <a:lnTo>
                    <a:pt x="0" y="63039"/>
                  </a:lnTo>
                  <a:lnTo>
                    <a:pt x="18493" y="18493"/>
                  </a:lnTo>
                  <a:lnTo>
                    <a:pt x="63039" y="0"/>
                  </a:lnTo>
                  <a:lnTo>
                    <a:pt x="5437786" y="0"/>
                  </a:lnTo>
                  <a:lnTo>
                    <a:pt x="5462290" y="4965"/>
                  </a:lnTo>
                  <a:lnTo>
                    <a:pt x="5482332" y="18493"/>
                  </a:lnTo>
                  <a:lnTo>
                    <a:pt x="5490256" y="30233"/>
                  </a:lnTo>
                  <a:lnTo>
                    <a:pt x="63039" y="30233"/>
                  </a:lnTo>
                  <a:lnTo>
                    <a:pt x="50315" y="32826"/>
                  </a:lnTo>
                  <a:lnTo>
                    <a:pt x="39882" y="39882"/>
                  </a:lnTo>
                  <a:lnTo>
                    <a:pt x="32826" y="50314"/>
                  </a:lnTo>
                  <a:lnTo>
                    <a:pt x="30233" y="63039"/>
                  </a:lnTo>
                  <a:lnTo>
                    <a:pt x="30233" y="765055"/>
                  </a:lnTo>
                  <a:lnTo>
                    <a:pt x="32826" y="777779"/>
                  </a:lnTo>
                  <a:lnTo>
                    <a:pt x="39882" y="788212"/>
                  </a:lnTo>
                  <a:lnTo>
                    <a:pt x="50315" y="795268"/>
                  </a:lnTo>
                  <a:lnTo>
                    <a:pt x="63039" y="797861"/>
                  </a:lnTo>
                  <a:lnTo>
                    <a:pt x="5490256" y="797861"/>
                  </a:lnTo>
                  <a:lnTo>
                    <a:pt x="5482332" y="809600"/>
                  </a:lnTo>
                  <a:lnTo>
                    <a:pt x="5462290" y="823129"/>
                  </a:lnTo>
                  <a:lnTo>
                    <a:pt x="5437786" y="828094"/>
                  </a:lnTo>
                  <a:close/>
                </a:path>
                <a:path extrusionOk="0" h="828675" w="5501005">
                  <a:moveTo>
                    <a:pt x="5490256" y="797861"/>
                  </a:moveTo>
                  <a:lnTo>
                    <a:pt x="5437786" y="797861"/>
                  </a:lnTo>
                  <a:lnTo>
                    <a:pt x="5450510" y="795268"/>
                  </a:lnTo>
                  <a:lnTo>
                    <a:pt x="5460943" y="788212"/>
                  </a:lnTo>
                  <a:lnTo>
                    <a:pt x="5467999" y="777779"/>
                  </a:lnTo>
                  <a:lnTo>
                    <a:pt x="5470592" y="765055"/>
                  </a:lnTo>
                  <a:lnTo>
                    <a:pt x="5470592" y="63039"/>
                  </a:lnTo>
                  <a:lnTo>
                    <a:pt x="5467999" y="50314"/>
                  </a:lnTo>
                  <a:lnTo>
                    <a:pt x="5460943" y="39882"/>
                  </a:lnTo>
                  <a:lnTo>
                    <a:pt x="5450510" y="32826"/>
                  </a:lnTo>
                  <a:lnTo>
                    <a:pt x="5437786" y="30233"/>
                  </a:lnTo>
                  <a:lnTo>
                    <a:pt x="5490256" y="30233"/>
                  </a:lnTo>
                  <a:lnTo>
                    <a:pt x="5495860" y="38535"/>
                  </a:lnTo>
                  <a:lnTo>
                    <a:pt x="5500825" y="63039"/>
                  </a:lnTo>
                  <a:lnTo>
                    <a:pt x="5500825" y="765055"/>
                  </a:lnTo>
                  <a:lnTo>
                    <a:pt x="5495860" y="789559"/>
                  </a:lnTo>
                  <a:lnTo>
                    <a:pt x="5490256" y="797861"/>
                  </a:lnTo>
                  <a:close/>
                </a:path>
              </a:pathLst>
            </a:custGeom>
            <a:solidFill>
              <a:srgbClr val="FFC2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"/>
            </a:p>
          </p:txBody>
        </p:sp>
        <p:pic>
          <p:nvPicPr>
            <p:cNvPr id="298" name="Google Shape;2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86958" y="3992508"/>
              <a:ext cx="4019372" cy="44767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15"/>
          <p:cNvSpPr txBox="1"/>
          <p:nvPr/>
        </p:nvSpPr>
        <p:spPr>
          <a:xfrm>
            <a:off x="3508550" y="2863425"/>
            <a:ext cx="55164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Опыт работы:</a:t>
            </a:r>
            <a:endParaRPr sz="26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616585" rtl="0" algn="l">
              <a:spcBef>
                <a:spcPts val="54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2 года на позиции “Программист”</a:t>
            </a:r>
            <a:endParaRPr sz="26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616585" rtl="0" algn="l">
              <a:spcBef>
                <a:spcPts val="54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1 год на позиции “Python developer”</a:t>
            </a:r>
            <a:endParaRPr sz="26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190300" y="1244925"/>
            <a:ext cx="300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826768" lvl="0" marL="838835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Чепуштанов Дмитрий Алексеевич</a:t>
            </a:r>
            <a:endParaRPr sz="1500"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 txBox="1"/>
          <p:nvPr>
            <p:ph type="title"/>
          </p:nvPr>
        </p:nvSpPr>
        <p:spPr>
          <a:xfrm>
            <a:off x="311700" y="277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Python: История и зачем вообще змея перешла в программирование?</a:t>
            </a:r>
            <a:endParaRPr/>
          </a:p>
        </p:txBody>
      </p:sp>
      <p:sp>
        <p:nvSpPr>
          <p:cNvPr id="306" name="Google Shape;306;p16"/>
          <p:cNvSpPr txBox="1"/>
          <p:nvPr>
            <p:ph idx="1" type="body"/>
          </p:nvPr>
        </p:nvSpPr>
        <p:spPr>
          <a:xfrm>
            <a:off x="311700" y="3148975"/>
            <a:ext cx="85206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1F1F1F"/>
                </a:solidFill>
              </a:rPr>
              <a:t>Название языка программирования связано не со змеей, как многие могли бы думать, а в честь канадского комедийного шоу “Летающий цирк Монти Пайтона”</a:t>
            </a:r>
            <a:endParaRPr b="1">
              <a:solidFill>
                <a:srgbClr val="1F1F1F"/>
              </a:solidFill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54575" y="1630475"/>
            <a:ext cx="738600" cy="7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354575" y="176892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1991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1962675" y="1630475"/>
            <a:ext cx="738600" cy="7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1962675" y="176892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1994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3433125" y="1630475"/>
            <a:ext cx="738600" cy="7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3433125" y="176892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1997</a:t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4965750" y="1592750"/>
            <a:ext cx="738600" cy="7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4965750" y="1731200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2000</a:t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6436200" y="1592750"/>
            <a:ext cx="738600" cy="73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6436200" y="1731200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2008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“Zen of Python” - “Душа” языка Python</a:t>
            </a:r>
            <a:endParaRPr/>
          </a:p>
        </p:txBody>
      </p:sp>
      <p:sp>
        <p:nvSpPr>
          <p:cNvPr id="322" name="Google Shape;322;p17"/>
          <p:cNvSpPr txBox="1"/>
          <p:nvPr>
            <p:ph idx="1" type="body"/>
          </p:nvPr>
        </p:nvSpPr>
        <p:spPr>
          <a:xfrm>
            <a:off x="4818725" y="1395100"/>
            <a:ext cx="405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“Beautiful is better than ugly.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Explicit is better than implicit.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Simple is better than complex.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Complex is better than complicated.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Flat is better than nested.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Sparse is better than dense.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21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Readability counts.”</a:t>
            </a:r>
            <a:endParaRPr sz="210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 txBox="1"/>
          <p:nvPr>
            <p:ph type="title"/>
          </p:nvPr>
        </p:nvSpPr>
        <p:spPr>
          <a:xfrm>
            <a:off x="1233700" y="4476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Где нам придется работать?</a:t>
            </a:r>
            <a:endParaRPr/>
          </a:p>
        </p:txBody>
      </p:sp>
      <p:pic>
        <p:nvPicPr>
          <p:cNvPr id="328" name="Google Shape;3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425" y="806100"/>
            <a:ext cx="2054450" cy="20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81425"/>
            <a:ext cx="572859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487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19"/>
          <p:cNvCxnSpPr/>
          <p:nvPr/>
        </p:nvCxnSpPr>
        <p:spPr>
          <a:xfrm flipH="1" rot="10800000">
            <a:off x="5557375" y="712000"/>
            <a:ext cx="2048700" cy="948900"/>
          </a:xfrm>
          <a:prstGeom prst="straightConnector1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19"/>
          <p:cNvSpPr/>
          <p:nvPr/>
        </p:nvSpPr>
        <p:spPr>
          <a:xfrm>
            <a:off x="7519900" y="399300"/>
            <a:ext cx="889500" cy="372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85300"/>
            <a:ext cx="8839201" cy="21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программа?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3352250" y="1202300"/>
            <a:ext cx="543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Программа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 — это алгоритм, записанный на языке, который понимает компьютер (языке программирования), с использованием переменных и других элементов.</a:t>
            </a:r>
            <a:endParaRPr/>
          </a:p>
        </p:txBody>
      </p:sp>
      <p:pic>
        <p:nvPicPr>
          <p:cNvPr id="344" name="Google Shape;3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955800" cy="29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0"/>
          <p:cNvSpPr txBox="1"/>
          <p:nvPr/>
        </p:nvSpPr>
        <p:spPr>
          <a:xfrm>
            <a:off x="3352250" y="2125775"/>
            <a:ext cx="537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Алгоритм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 — это пошаговая инструкция, которая описывает преобразование данных. Эти данные хранятся в специальных ячейках памяти, называемых переменными. Проще говоря, алгоритм — это последовательность действий над переменными.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3352250" y="3233750"/>
            <a:ext cx="54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Переменная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 — это та самая ячейка памяти, упомянутая в определении алгоритма, которая хранит в себе данные. У каждой переменной есть уникальное имя (идентификатор), по которому алгоритм может к ней обращаться, чтобы прочитать или изменить её значение.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Переменная, что ты такое???</a:t>
            </a:r>
            <a:endParaRPr/>
          </a:p>
        </p:txBody>
      </p:sp>
      <p:sp>
        <p:nvSpPr>
          <p:cNvPr id="352" name="Google Shape;352;p21"/>
          <p:cNvSpPr txBox="1"/>
          <p:nvPr>
            <p:ph idx="1" type="body"/>
          </p:nvPr>
        </p:nvSpPr>
        <p:spPr>
          <a:xfrm>
            <a:off x="4572000" y="1152475"/>
            <a:ext cx="4260300" cy="11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Представь оперативную память компьютера как огромный шкаф с пронумерованными ящиками. Каждый ящик — это ячейка памяти, у которой есть свой адрес (например, 0x7ffd42a). Запоминать эти цифровые адреса человеку неудобно.</a:t>
            </a:r>
            <a:endParaRPr/>
          </a:p>
        </p:txBody>
      </p:sp>
      <p:pic>
        <p:nvPicPr>
          <p:cNvPr id="353" name="Google Shape;353;p21"/>
          <p:cNvPicPr preferRelativeResize="0"/>
          <p:nvPr/>
        </p:nvPicPr>
        <p:blipFill rotWithShape="1">
          <a:blip r:embed="rId3">
            <a:alphaModFix/>
          </a:blip>
          <a:srcRect b="0" l="2089" r="1627" t="12518"/>
          <a:stretch/>
        </p:blipFill>
        <p:spPr>
          <a:xfrm>
            <a:off x="311700" y="1111000"/>
            <a:ext cx="4100925" cy="14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150975" y="2665025"/>
            <a:ext cx="442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Переменная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 — это просто удобное человеческое имя для такого ящика. Когда ты пишешь в коде user_name, компьютер сам понимает, что ты имеешь в виду ящик с условным адресом 0x7ffd42a, и идёт работать именно с ним.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4766100" y="3396650"/>
            <a:ext cx="3966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snake_case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: наименование 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переменных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, когда мы пишем несколько слов через _. Это позволяет передать смысл переменной. К примеру user_name вместо un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upper_case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: наименование переменных, констант. Смысл тот же, но все буквы пишутся с заглавной.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66100" y="3062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Как правильно называть переменную?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не стоит называть переменные?</a:t>
            </a:r>
            <a:endParaRPr/>
          </a:p>
        </p:txBody>
      </p:sp>
      <p:sp>
        <p:nvSpPr>
          <p:cNvPr id="362" name="Google Shape;362;p22"/>
          <p:cNvSpPr txBox="1"/>
          <p:nvPr>
            <p:ph idx="1" type="body"/>
          </p:nvPr>
        </p:nvSpPr>
        <p:spPr>
          <a:xfrm>
            <a:off x="547400" y="1984450"/>
            <a:ext cx="7030500" cy="24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635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Имя не может начинаться с цифры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Например: 1variable, 2nd_name, 0_test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Имя не может совпадать с зарезервированными словами Python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(например, if, else, while, for, class, def и т. д.). Эти слова имеют специальное значение в языке и не могут использоваться в качестве имён</a:t>
            </a:r>
            <a:endParaRPr sz="90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Нельзя использовать символы, не являющиеся буквами, цифрами или нижним подчёркиванием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Это включает пробелы, знаки препинания, арифметические операторы, скобки, специальные символы (@, #, $, % и др.)</a:t>
            </a:r>
            <a:endParaRPr sz="900">
              <a:solidFill>
                <a:schemeClr val="hlink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Регистр букв имеет значение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переменные name, Name и NAME — это три разные переменные.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Копирование переменных</a:t>
            </a:r>
            <a:endParaRPr/>
          </a:p>
        </p:txBody>
      </p:sp>
      <p:sp>
        <p:nvSpPr>
          <p:cNvPr id="368" name="Google Shape;368;p23"/>
          <p:cNvSpPr txBox="1"/>
          <p:nvPr>
            <p:ph idx="1" type="body"/>
          </p:nvPr>
        </p:nvSpPr>
        <p:spPr>
          <a:xfrm>
            <a:off x="4786400" y="1152475"/>
            <a:ext cx="404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ru" sz="1765">
                <a:solidFill>
                  <a:srgbClr val="1F1F1F"/>
                </a:solidFill>
              </a:rPr>
              <a:t>Глубокое копирование</a:t>
            </a:r>
            <a:r>
              <a:rPr lang="ru" sz="1765">
                <a:solidFill>
                  <a:srgbClr val="1F1F1F"/>
                </a:solidFill>
              </a:rPr>
              <a:t> - копирование значения, а не ссылки</a:t>
            </a:r>
            <a:endParaRPr sz="1765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ru" sz="1765">
                <a:solidFill>
                  <a:srgbClr val="1F1F1F"/>
                </a:solidFill>
              </a:rPr>
              <a:t>Поверхностное копирование</a:t>
            </a:r>
            <a:r>
              <a:rPr lang="ru" sz="1765">
                <a:solidFill>
                  <a:srgbClr val="1F1F1F"/>
                </a:solidFill>
              </a:rPr>
              <a:t> - копирование ссылки, а не значения</a:t>
            </a:r>
            <a:endParaRPr sz="1765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765">
                <a:solidFill>
                  <a:srgbClr val="1F1F1F"/>
                </a:solidFill>
              </a:rPr>
              <a:t>При использовании глубокого копирования, будут созданы 2 независимые переменные</a:t>
            </a:r>
            <a:endParaRPr sz="1765">
              <a:solidFill>
                <a:srgbClr val="1F1F1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ru" sz="1765">
                <a:solidFill>
                  <a:srgbClr val="1F1F1F"/>
                </a:solidFill>
              </a:rPr>
              <a:t>При использовании поверхностного копирования, новая переменная будет </a:t>
            </a:r>
            <a:r>
              <a:rPr lang="ru" sz="1765">
                <a:solidFill>
                  <a:srgbClr val="1F1F1F"/>
                </a:solidFill>
              </a:rPr>
              <a:t>зависеть</a:t>
            </a:r>
            <a:r>
              <a:rPr lang="ru" sz="1765">
                <a:solidFill>
                  <a:srgbClr val="1F1F1F"/>
                </a:solidFill>
              </a:rPr>
              <a:t> от изменений исходной.</a:t>
            </a:r>
            <a:endParaRPr sz="1765">
              <a:solidFill>
                <a:srgbClr val="1F1F1F"/>
              </a:solidFill>
            </a:endParaRPr>
          </a:p>
        </p:txBody>
      </p:sp>
      <p:pic>
        <p:nvPicPr>
          <p:cNvPr id="369" name="Google Shape;3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75" y="1563725"/>
            <a:ext cx="4551675" cy="2368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Ввод/Вывод</a:t>
            </a:r>
            <a:endParaRPr/>
          </a:p>
        </p:txBody>
      </p:sp>
      <p:sp>
        <p:nvSpPr>
          <p:cNvPr id="375" name="Google Shape;375;p24"/>
          <p:cNvSpPr txBox="1"/>
          <p:nvPr>
            <p:ph idx="1" type="body"/>
          </p:nvPr>
        </p:nvSpPr>
        <p:spPr>
          <a:xfrm>
            <a:off x="1190575" y="2723300"/>
            <a:ext cx="7030500" cy="17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1F1F1F"/>
                </a:solidFill>
              </a:rPr>
              <a:t>Особенности ввода и вывода данных</a:t>
            </a:r>
            <a:endParaRPr b="1"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F1F1F"/>
                </a:solidFill>
              </a:rPr>
              <a:t>Python, когда вы вводите информацию, всегда считает, что вы вводите строку, без разницы, число ли это или формула, все это для программы является строкой.</a:t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1F1F1F"/>
                </a:solidFill>
              </a:rPr>
              <a:t>Вывод также происходит только строковых значений. Однако, в отличие от ввода, программа сама приводит данные к строковому типу.</a:t>
            </a:r>
            <a:endParaRPr sz="1500">
              <a:solidFill>
                <a:srgbClr val="1F1F1F"/>
              </a:solidFill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1190575" y="1597875"/>
            <a:ext cx="4221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INPUT()</a:t>
            </a:r>
            <a:r>
              <a:rPr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=&gt; Ввод данных в программу</a:t>
            </a:r>
            <a:endParaRPr sz="16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PRINT()</a:t>
            </a:r>
            <a:r>
              <a:rPr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=&gt; Вывод данных из программы</a:t>
            </a:r>
            <a:endParaRPr sz="1700">
              <a:solidFill>
                <a:srgbClr val="1F1F1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Первая программа</a:t>
            </a:r>
            <a:endParaRPr/>
          </a:p>
        </p:txBody>
      </p:sp>
      <p:sp>
        <p:nvSpPr>
          <p:cNvPr id="382" name="Google Shape;382;p25"/>
          <p:cNvSpPr txBox="1"/>
          <p:nvPr>
            <p:ph idx="1" type="body"/>
          </p:nvPr>
        </p:nvSpPr>
        <p:spPr>
          <a:xfrm>
            <a:off x="5401050" y="230525"/>
            <a:ext cx="3614400" cy="21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F1F1F"/>
                </a:solidFill>
              </a:rPr>
              <a:t>Что нужно сделать?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Для печати на экран, нужно использовать специальную функцию </a:t>
            </a:r>
            <a:r>
              <a:rPr lang="ru" u="sng"/>
              <a:t>print()</a:t>
            </a:r>
            <a:r>
              <a:rPr lang="ru"/>
              <a:t> которая выводит информацию на экран пользователя</a:t>
            </a:r>
            <a:endParaRPr/>
          </a:p>
        </p:txBody>
      </p:sp>
      <p:pic>
        <p:nvPicPr>
          <p:cNvPr id="383" name="Google Shape;3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825" y="1747838"/>
            <a:ext cx="9715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 txBox="1"/>
          <p:nvPr/>
        </p:nvSpPr>
        <p:spPr>
          <a:xfrm>
            <a:off x="311700" y="1133850"/>
            <a:ext cx="43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1F1F1F"/>
                </a:solidFill>
              </a:rPr>
              <a:t>Как вывести на экран рисунок из букв?</a:t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385" name="Google Shape;3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275" y="1777950"/>
            <a:ext cx="1609950" cy="26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Задача!</a:t>
            </a:r>
            <a:endParaRPr/>
          </a:p>
        </p:txBody>
      </p:sp>
      <p:sp>
        <p:nvSpPr>
          <p:cNvPr id="391" name="Google Shape;391;p26"/>
          <p:cNvSpPr txBox="1"/>
          <p:nvPr>
            <p:ph idx="1" type="body"/>
          </p:nvPr>
        </p:nvSpPr>
        <p:spPr>
          <a:xfrm>
            <a:off x="408775" y="1276500"/>
            <a:ext cx="379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rgbClr val="1F1F1F"/>
                </a:solidFill>
              </a:rPr>
              <a:t>Как сложить три числа?</a:t>
            </a:r>
            <a:endParaRPr sz="2400">
              <a:solidFill>
                <a:srgbClr val="1F1F1F"/>
              </a:solidFill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5175875" y="954300"/>
            <a:ext cx="34923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F1F1F"/>
                </a:solidFill>
                <a:highlight>
                  <a:srgbClr val="FFFFFF"/>
                </a:highlight>
              </a:rPr>
              <a:t>Для этого используем 3 переменные: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F1F1F"/>
                </a:solidFill>
                <a:highlight>
                  <a:srgbClr val="FFFFFF"/>
                </a:highlight>
              </a:rPr>
              <a:t>a, b, c, в каждую из которых мы запишем какое-то число.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>
                <a:solidFill>
                  <a:srgbClr val="1F1F1F"/>
                </a:solidFill>
                <a:highlight>
                  <a:srgbClr val="FFFFFF"/>
                </a:highlight>
              </a:rPr>
              <a:t>Далее, выводим их сумму.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393" name="Google Shape;3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600" y="2323350"/>
            <a:ext cx="2277925" cy="134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625" y="2107975"/>
            <a:ext cx="1701000" cy="20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Строка =! Число или Задача*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311700" y="1325000"/>
            <a:ext cx="8520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rgbClr val="1F1F1F"/>
                </a:solidFill>
              </a:rPr>
              <a:t>Как написать старую задачу так, чтобы чтобы получилась сумма, а не “слипание” чисел?</a:t>
            </a:r>
            <a:endParaRPr sz="1700">
              <a:solidFill>
                <a:srgbClr val="1F1F1F"/>
              </a:solidFill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311700" y="2185025"/>
            <a:ext cx="3000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1F1F1F"/>
                </a:solidFill>
              </a:rPr>
              <a:t>В Python все вводимые значения являются </a:t>
            </a:r>
            <a:r>
              <a:rPr b="1" lang="ru" sz="1800">
                <a:solidFill>
                  <a:srgbClr val="1F1F1F"/>
                </a:solidFill>
              </a:rPr>
              <a:t>строками</a:t>
            </a:r>
            <a:r>
              <a:rPr lang="ru" sz="1800">
                <a:solidFill>
                  <a:srgbClr val="1F1F1F"/>
                </a:solidFill>
              </a:rPr>
              <a:t> и при сложении, мы как бы “</a:t>
            </a:r>
            <a:r>
              <a:rPr b="1" lang="ru" sz="1800">
                <a:solidFill>
                  <a:srgbClr val="1F1F1F"/>
                </a:solidFill>
              </a:rPr>
              <a:t>лепим</a:t>
            </a:r>
            <a:r>
              <a:rPr lang="ru" sz="1800">
                <a:solidFill>
                  <a:srgbClr val="1F1F1F"/>
                </a:solidFill>
              </a:rPr>
              <a:t>” значения в один большой </a:t>
            </a:r>
            <a:r>
              <a:rPr b="1" lang="ru" sz="1800">
                <a:solidFill>
                  <a:srgbClr val="1F1F1F"/>
                </a:solidFill>
              </a:rPr>
              <a:t>комок</a:t>
            </a:r>
            <a:r>
              <a:rPr lang="ru" sz="1800">
                <a:solidFill>
                  <a:srgbClr val="1F1F1F"/>
                </a:solidFill>
              </a:rPr>
              <a:t>.</a:t>
            </a:r>
            <a:endParaRPr sz="1800">
              <a:solidFill>
                <a:srgbClr val="1F1F1F"/>
              </a:solidFill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4071900" y="2210525"/>
            <a:ext cx="47604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Для работы с числами, существуют 3 типа данных: 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int - integer, целочисленное значение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float - вещественные значения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demical - вещественные значения, с большей точностью.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idx="1" type="body"/>
          </p:nvPr>
        </p:nvSpPr>
        <p:spPr>
          <a:xfrm>
            <a:off x="1390050" y="2238075"/>
            <a:ext cx="7030500" cy="1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F1F1F"/>
                </a:solidFill>
              </a:rPr>
              <a:t>Для это стоит обернуть </a:t>
            </a:r>
            <a:r>
              <a:rPr lang="ru">
                <a:solidFill>
                  <a:srgbClr val="1F1F1F"/>
                </a:solidFill>
              </a:rPr>
              <a:t>введенное</a:t>
            </a:r>
            <a:r>
              <a:rPr lang="ru">
                <a:solidFill>
                  <a:srgbClr val="1F1F1F"/>
                </a:solidFill>
              </a:rPr>
              <a:t> значение в тот числовой тип, который необходим для решения задачи.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400"/>
              <a:t>a = int(input())</a:t>
            </a:r>
            <a:endParaRPr b="1" sz="1400"/>
          </a:p>
        </p:txBody>
      </p:sp>
      <p:sp>
        <p:nvSpPr>
          <p:cNvPr id="408" name="Google Shape;408;p28"/>
          <p:cNvSpPr txBox="1"/>
          <p:nvPr/>
        </p:nvSpPr>
        <p:spPr>
          <a:xfrm>
            <a:off x="2740325" y="632250"/>
            <a:ext cx="57825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Чтобы число стало числом, а не строкой, нужно использовать “приведение” типа данных. Это когда мы оборачиваем строку в число и программа знает, что это не строка, а число. 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669975" y="18453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Как это сделать?</a:t>
            </a:r>
            <a:endParaRPr b="1" sz="1700">
              <a:solidFill>
                <a:srgbClr val="1F1F1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Задача*</a:t>
            </a:r>
            <a:endParaRPr/>
          </a:p>
        </p:txBody>
      </p:sp>
      <p:sp>
        <p:nvSpPr>
          <p:cNvPr id="415" name="Google Shape;415;p29"/>
          <p:cNvSpPr txBox="1"/>
          <p:nvPr>
            <p:ph idx="1" type="body"/>
          </p:nvPr>
        </p:nvSpPr>
        <p:spPr>
          <a:xfrm>
            <a:off x="311700" y="1152475"/>
            <a:ext cx="8520600" cy="4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1F1F1F"/>
                </a:solidFill>
              </a:rPr>
              <a:t>Теперь напишите код так, чтобы можно было сложить числа, а не строки</a:t>
            </a:r>
            <a:endParaRPr sz="1500">
              <a:solidFill>
                <a:srgbClr val="1F1F1F"/>
              </a:solidFill>
            </a:endParaRPr>
          </a:p>
        </p:txBody>
      </p:sp>
      <p:pic>
        <p:nvPicPr>
          <p:cNvPr id="416" name="Google Shape;4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325" y="2336275"/>
            <a:ext cx="2909425" cy="16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Задача**</a:t>
            </a:r>
            <a:endParaRPr/>
          </a:p>
        </p:txBody>
      </p:sp>
      <p:sp>
        <p:nvSpPr>
          <p:cNvPr id="422" name="Google Shape;422;p30"/>
          <p:cNvSpPr txBox="1"/>
          <p:nvPr>
            <p:ph idx="1" type="body"/>
          </p:nvPr>
        </p:nvSpPr>
        <p:spPr>
          <a:xfrm>
            <a:off x="500150" y="1364625"/>
            <a:ext cx="8001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1F1F1F"/>
                </a:solidFill>
              </a:rPr>
              <a:t>Зачастую, преобразование переменной от одного типа к другому происходит не сразу при вводе, а в последствии выполнения программы.</a:t>
            </a:r>
            <a:endParaRPr sz="14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400">
                <a:solidFill>
                  <a:srgbClr val="1F1F1F"/>
                </a:solidFill>
              </a:rPr>
              <a:t>Напишите алгоритм, который принимает 3 переменные, которые после записи перезаписывались бы в числовой тип данных и выводилась их сумма.</a:t>
            </a:r>
            <a:endParaRPr b="1" sz="1400">
              <a:solidFill>
                <a:srgbClr val="1F1F1F"/>
              </a:solidFill>
            </a:endParaRPr>
          </a:p>
        </p:txBody>
      </p:sp>
      <p:pic>
        <p:nvPicPr>
          <p:cNvPr id="423" name="Google Shape;4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475" y="2689700"/>
            <a:ext cx="1798975" cy="2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Математические операции</a:t>
            </a:r>
            <a:endParaRPr/>
          </a:p>
        </p:txBody>
      </p:sp>
      <p:sp>
        <p:nvSpPr>
          <p:cNvPr id="429" name="Google Shape;429;p31"/>
          <p:cNvSpPr txBox="1"/>
          <p:nvPr>
            <p:ph idx="1" type="body"/>
          </p:nvPr>
        </p:nvSpPr>
        <p:spPr>
          <a:xfrm>
            <a:off x="360225" y="1281875"/>
            <a:ext cx="8520600" cy="3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F1F1F"/>
                </a:solidFill>
              </a:rPr>
              <a:t>Числа можно складывать, умножать, делить, возводить в степень и все, что душе угодно.</a:t>
            </a:r>
            <a:endParaRPr sz="1600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+ b - сумма двух переменных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* b - умножение двух переменных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/ b - деление двух переменных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- b - вычитание двух переменных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^ b - возведение числа в степень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// b - деление без остатка</a:t>
            </a:r>
            <a:endParaRPr sz="2261">
              <a:solidFill>
                <a:srgbClr val="1F1F1F"/>
              </a:solidFill>
            </a:endParaRPr>
          </a:p>
          <a:p>
            <a:pPr indent="-372176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61"/>
              <a:buChar char="●"/>
            </a:pPr>
            <a:r>
              <a:rPr lang="ru" sz="2261">
                <a:solidFill>
                  <a:srgbClr val="1F1F1F"/>
                </a:solidFill>
              </a:rPr>
              <a:t>a % b - остаток от деления</a:t>
            </a:r>
            <a:endParaRPr sz="2261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***</a:t>
            </a:r>
            <a:endParaRPr/>
          </a:p>
        </p:txBody>
      </p:sp>
      <p:sp>
        <p:nvSpPr>
          <p:cNvPr id="435" name="Google Shape;435;p32"/>
          <p:cNvSpPr txBox="1"/>
          <p:nvPr>
            <p:ph idx="1" type="body"/>
          </p:nvPr>
        </p:nvSpPr>
        <p:spPr>
          <a:xfrm>
            <a:off x="619075" y="1386200"/>
            <a:ext cx="8174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/>
              <a:t>Необходимо ввести в программу 3 переменных, затем вычислить 3 значения: сумму, умножение, среднее арифметическое</a:t>
            </a:r>
            <a:endParaRPr sz="1500"/>
          </a:p>
        </p:txBody>
      </p:sp>
      <p:pic>
        <p:nvPicPr>
          <p:cNvPr id="436" name="Google Shape;4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563" y="1714663"/>
            <a:ext cx="4924425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Дружественный интерфейс</a:t>
            </a:r>
            <a:endParaRPr/>
          </a:p>
        </p:txBody>
      </p:sp>
      <p:sp>
        <p:nvSpPr>
          <p:cNvPr id="442" name="Google Shape;442;p33"/>
          <p:cNvSpPr txBox="1"/>
          <p:nvPr>
            <p:ph idx="1" type="body"/>
          </p:nvPr>
        </p:nvSpPr>
        <p:spPr>
          <a:xfrm>
            <a:off x="311700" y="1152475"/>
            <a:ext cx="8520600" cy="13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1F1F1F"/>
                </a:solidFill>
                <a:highlight>
                  <a:srgbClr val="FFFFFF"/>
                </a:highlight>
              </a:rPr>
              <a:t>Дружественный интерфейс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 - это упрощение для пользователя взаимодействия с программой. Элементом дружественного интерфейса является поддержание диалога с пользователем.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Для этого, перед вводом данных с клавиатуры можно вывести сообщение о том, что именно мы просим ввести пользователя. И наоборот, при выводе результата работы программы, необходимо 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пояснить</a:t>
            </a:r>
            <a:r>
              <a:rPr lang="ru" sz="1200">
                <a:solidFill>
                  <a:srgbClr val="1F1F1F"/>
                </a:solidFill>
                <a:highlight>
                  <a:srgbClr val="FFFFFF"/>
                </a:highlight>
              </a:rPr>
              <a:t>, что именно мы вывели.</a:t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443" name="Google Shape;4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83300"/>
            <a:ext cx="2520378" cy="24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3872" y="2616575"/>
            <a:ext cx="5847825" cy="52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Удобство работы с переменными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648425" y="1236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1F1F1F"/>
                </a:solidFill>
              </a:rPr>
              <a:t>Единичное присвоение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599900" y="2621700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/>
              <a:t>Множественное присваивание</a:t>
            </a:r>
            <a:endParaRPr/>
          </a:p>
        </p:txBody>
      </p:sp>
      <p:pic>
        <p:nvPicPr>
          <p:cNvPr id="452" name="Google Shape;4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875" y="1819075"/>
            <a:ext cx="42296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125" y="3241650"/>
            <a:ext cx="2841100" cy="71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 строки, как наполнить его информацией?</a:t>
            </a:r>
            <a:endParaRPr/>
          </a:p>
        </p:txBody>
      </p:sp>
      <p:sp>
        <p:nvSpPr>
          <p:cNvPr id="459" name="Google Shape;459;p35"/>
          <p:cNvSpPr txBox="1"/>
          <p:nvPr>
            <p:ph idx="1" type="body"/>
          </p:nvPr>
        </p:nvSpPr>
        <p:spPr>
          <a:xfrm>
            <a:off x="311700" y="1449450"/>
            <a:ext cx="8520600" cy="22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F1F1F"/>
                </a:solidFill>
              </a:rPr>
              <a:t>Для наполнения строки можно использовать форматирование строк. Об этом мы поговорим чуть подробнее в другой раз, а сейчас заденем самую простую версию: f-строка.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F1F1F"/>
                </a:solidFill>
              </a:rPr>
              <a:t>f - приставка к строке, показывающая, что все данные, указанные в {} будут являться реальными переменными.</a:t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460" name="Google Shape;4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850" y="3188250"/>
            <a:ext cx="7878175" cy="10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****</a:t>
            </a:r>
            <a:endParaRPr/>
          </a:p>
        </p:txBody>
      </p:sp>
      <p:sp>
        <p:nvSpPr>
          <p:cNvPr id="466" name="Google Shape;466;p36"/>
          <p:cNvSpPr txBox="1"/>
          <p:nvPr>
            <p:ph idx="1" type="body"/>
          </p:nvPr>
        </p:nvSpPr>
        <p:spPr>
          <a:xfrm>
            <a:off x="311700" y="1152475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</a:rPr>
              <a:t>Вам необходимо считать время в секундах и перевести в минуты. Ответ дайте в формате “HH мин. SS с.”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67" name="Google Shape;4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975" y="2115150"/>
            <a:ext cx="5842250" cy="24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